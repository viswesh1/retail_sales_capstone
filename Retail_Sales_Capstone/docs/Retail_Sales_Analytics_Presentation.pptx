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4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4"/>
            <a:ext cx="5917677" cy="2554758"/>
          </a:xfrm>
        </p:spPr>
        <p:txBody>
          <a:bodyPr anchor="b"/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441" y="4777380"/>
            <a:ext cx="5917677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7419" y="1824010"/>
            <a:ext cx="990599" cy="240258"/>
          </a:xfrm>
        </p:spPr>
        <p:txBody>
          <a:bodyPr/>
          <a:lstStyle>
            <a:lvl1pPr algn="l">
              <a:defRPr sz="900"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46568" y="3264407"/>
            <a:ext cx="3859795" cy="228659"/>
          </a:xfrm>
        </p:spPr>
        <p:txBody>
          <a:bodyPr/>
          <a:lstStyle>
            <a:lvl1pPr>
              <a:defRPr sz="900"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35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78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66443" y="2257588"/>
            <a:ext cx="3101763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third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267"/>
            <a:ext cx="3054653" cy="3020345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5644" y="39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893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79" cy="353060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53245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764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1" y="3248040"/>
            <a:ext cx="3636978" cy="277176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0" y="2488750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040"/>
            <a:ext cx="3636980" cy="277390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643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95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-1404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4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52881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3086845"/>
            <a:ext cx="2712590" cy="2938036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745644" y="-1404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568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21" name="Rectangle 2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Oval 25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7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91" y="1343112"/>
            <a:ext cx="3001938" cy="1613085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1592" y="3086100"/>
            <a:ext cx="3001938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-1404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757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Rectangle 14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745644" y="-7177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782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17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3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2004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Text Placeholder 3"/>
          <p:cNvSpPr>
            <a:spLocks noGrp="1"/>
          </p:cNvSpPr>
          <p:nvPr>
            <p:ph type="body" sz="half" idx="13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745644" y="-7177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7656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1" name="TextBox 10"/>
          <p:cNvSpPr txBox="1"/>
          <p:nvPr/>
        </p:nvSpPr>
        <p:spPr bwMode="gray">
          <a:xfrm>
            <a:off x="7033421" y="2893960"/>
            <a:ext cx="6792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10" name="TextBox 9"/>
          <p:cNvSpPr txBox="1"/>
          <p:nvPr/>
        </p:nvSpPr>
        <p:spPr bwMode="gray">
          <a:xfrm>
            <a:off x="625840" y="590998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0763" y="914400"/>
            <a:ext cx="6177681" cy="28846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9" y="3809278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78870" y="5000815"/>
            <a:ext cx="6422005" cy="101817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-7177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17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400"/>
            <a:ext cx="6422004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159399"/>
            <a:ext cx="6422004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4507" y="39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498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852" y="921453"/>
            <a:ext cx="6423592" cy="715512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1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2"/>
            <a:ext cx="2313431" cy="287771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1" y="2485332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2"/>
            <a:ext cx="2326750" cy="288836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0"/>
            <a:ext cx="231374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0" y="3147162"/>
            <a:ext cx="2313740" cy="287771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87101" y="2489200"/>
            <a:ext cx="0" cy="3535679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622" y="2489200"/>
            <a:ext cx="0" cy="3535679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6283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3592" cy="70986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390" y="4179595"/>
            <a:ext cx="2295329" cy="65796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21261" y="2489200"/>
            <a:ext cx="2012937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48208"/>
            <a:ext cx="2309279" cy="117667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30434" y="4179594"/>
            <a:ext cx="2291674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486834"/>
            <a:ext cx="2025182" cy="144970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8" y="4848209"/>
            <a:ext cx="2317790" cy="118837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4166523"/>
            <a:ext cx="2304671" cy="681684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6" y="2489200"/>
            <a:ext cx="2018838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0" y="4848209"/>
            <a:ext cx="2304671" cy="118942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441" y="2489200"/>
            <a:ext cx="0" cy="3535679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622" y="2489200"/>
            <a:ext cx="0" cy="3548436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6886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64852" y="921453"/>
            <a:ext cx="6423592" cy="715512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4277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119474" cy="4571999"/>
          </a:xfrm>
        </p:spPr>
        <p:txBody>
          <a:bodyPr vert="eaVert"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0" y="1447799"/>
            <a:ext cx="4417234" cy="4572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4507" y="39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12364" y="295730"/>
            <a:ext cx="738909" cy="76768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744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2266" y="-2022"/>
            <a:ext cx="9146266" cy="6861037"/>
            <a:chOff x="-2266" y="-2022"/>
            <a:chExt cx="9146266" cy="6861037"/>
          </a:xfrm>
        </p:grpSpPr>
        <p:sp>
          <p:nvSpPr>
            <p:cNvPr id="19" name="Rectangle 18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-2022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2266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841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6" name="Freeform 25"/>
            <p:cNvSpPr/>
            <p:nvPr/>
          </p:nvSpPr>
          <p:spPr bwMode="gray">
            <a:xfrm>
              <a:off x="485023" y="1856958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7" name="Freeform 5"/>
            <p:cNvSpPr>
              <a:spLocks noEditPoints="1"/>
            </p:cNvSpPr>
            <p:nvPr/>
          </p:nvSpPr>
          <p:spPr bwMode="gray">
            <a:xfrm>
              <a:off x="0" y="5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1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1"/>
            <a:ext cx="6345260" cy="3530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0111" y="6377097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2" y="6373195"/>
            <a:ext cx="3859795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3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48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End-to-End Retail Performance and Behavioral </a:t>
            </a:r>
            <a:r>
              <a:rPr lang="en-US" sz="2800" dirty="0" smtClean="0"/>
              <a:t>Analytics</a:t>
            </a:r>
            <a:endParaRPr sz="1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926080"/>
            <a:ext cx="2986231" cy="2157984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Prepared By: </a:t>
            </a:r>
            <a:r>
              <a:rPr dirty="0" err="1" smtClean="0"/>
              <a:t>Viswesh</a:t>
            </a:r>
            <a:endParaRPr lang="en-US" dirty="0" smtClean="0"/>
          </a:p>
          <a:p>
            <a:r>
              <a:rPr lang="en-US" dirty="0" smtClean="0"/>
              <a:t>Company : </a:t>
            </a:r>
            <a:r>
              <a:rPr lang="en-IN" dirty="0"/>
              <a:t>(</a:t>
            </a:r>
            <a:r>
              <a:rPr lang="en-IN" dirty="0" err="1"/>
              <a:t>RetailNova</a:t>
            </a:r>
            <a:r>
              <a:rPr lang="en-IN" dirty="0"/>
              <a:t> Inc.)</a:t>
            </a:r>
            <a:endParaRPr dirty="0"/>
          </a:p>
          <a:p>
            <a:r>
              <a:rPr dirty="0"/>
              <a:t>Course: Diploma in Data Analytics with Generative AI</a:t>
            </a:r>
          </a:p>
          <a:p>
            <a:r>
              <a:rPr dirty="0" smtClean="0"/>
              <a:t>Date</a:t>
            </a:r>
            <a:r>
              <a:rPr dirty="0"/>
              <a:t>: 12 January 2026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1167" y="4450080"/>
            <a:ext cx="5132833" cy="2407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End-to-end retail analytics project</a:t>
            </a:r>
          </a:p>
          <a:p>
            <a:r>
              <a:t>• Sales, Customers, Products, Stores, Returns</a:t>
            </a:r>
          </a:p>
          <a:p>
            <a:r>
              <a:t>• Goal: Business insights using data</a:t>
            </a:r>
          </a:p>
          <a:p>
            <a:r>
              <a:t>• Tools: SQL, Python, Power BI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776" y="4072128"/>
            <a:ext cx="4228957" cy="25968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clear visibility on sales and profit</a:t>
            </a:r>
          </a:p>
          <a:p>
            <a:r>
              <a:t>• Hard to identify high-value customers</a:t>
            </a:r>
          </a:p>
          <a:p>
            <a:r>
              <a:t>• Product returns impact revenue</a:t>
            </a:r>
          </a:p>
          <a:p>
            <a:r>
              <a:t>• Store performance unclear</a:t>
            </a:r>
          </a:p>
        </p:txBody>
      </p:sp>
      <p:sp>
        <p:nvSpPr>
          <p:cNvPr id="4" name="AutoShape 2" descr="https://media.geeksforgeeks.org/wp-content/uploads/20240405105743/Data-Analysis-Challenges.webp"/>
          <p:cNvSpPr>
            <a:spLocks noChangeAspect="1" noChangeArrowheads="1"/>
          </p:cNvSpPr>
          <p:nvPr/>
        </p:nvSpPr>
        <p:spPr bwMode="auto">
          <a:xfrm>
            <a:off x="5697393" y="3522373"/>
            <a:ext cx="2347480" cy="238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https://media.geeksforgeeks.org/wp-content/uploads/20240405105743/Data-Analysis-Challenges.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074" name="Picture 2" descr="Business problem concept illustration | Premium Vec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751" y="3522373"/>
            <a:ext cx="3740785" cy="2865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revenue and quantity</a:t>
            </a:r>
          </a:p>
          <a:p>
            <a:r>
              <a:t>• Identify top products &amp; customers</a:t>
            </a:r>
          </a:p>
          <a:p>
            <a:r>
              <a:t>• Understand customer behavior</a:t>
            </a:r>
          </a:p>
          <a:p>
            <a:r>
              <a:t>• Evaluate store performance</a:t>
            </a:r>
          </a:p>
          <a:p>
            <a:r>
              <a:t>• Analyze returns</a:t>
            </a:r>
          </a:p>
        </p:txBody>
      </p:sp>
      <p:pic>
        <p:nvPicPr>
          <p:cNvPr id="4098" name="Picture 2" descr="Goal - Free business and finance ic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1163" y="3833076"/>
            <a:ext cx="4454707" cy="243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Sales transactions</a:t>
            </a:r>
          </a:p>
          <a:p>
            <a:r>
              <a:t>• Customer demographics</a:t>
            </a:r>
          </a:p>
          <a:p>
            <a:r>
              <a:t>• Product cost and category</a:t>
            </a:r>
          </a:p>
          <a:p>
            <a:r>
              <a:t>• Store details &amp; operating cost</a:t>
            </a:r>
          </a:p>
          <a:p>
            <a:r>
              <a:t>• Returns data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639" y="4141227"/>
            <a:ext cx="4477375" cy="26578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1"/>
            <a:ext cx="3351991" cy="3692143"/>
          </a:xfrm>
        </p:spPr>
        <p:txBody>
          <a:bodyPr>
            <a:normAutofit lnSpcReduction="10000"/>
          </a:bodyPr>
          <a:lstStyle/>
          <a:p>
            <a:r>
              <a:t>• Loaded datasets using pandas</a:t>
            </a:r>
          </a:p>
          <a:p>
            <a:r>
              <a:t>• Validated data &amp; null values</a:t>
            </a:r>
          </a:p>
          <a:p>
            <a:r>
              <a:t>• Merged sales with product cost</a:t>
            </a:r>
          </a:p>
          <a:p>
            <a:r>
              <a:t>• Calculated profit per transaction</a:t>
            </a:r>
          </a:p>
          <a:p>
            <a:endParaRPr/>
          </a:p>
          <a:p>
            <a:r>
              <a:t>Profit = Total Amount - (Cost Price × Quantity)</a:t>
            </a:r>
          </a:p>
        </p:txBody>
      </p:sp>
      <p:sp>
        <p:nvSpPr>
          <p:cNvPr id="6" name="AutoShape 6" descr="Image result for python imag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736" y="2259330"/>
            <a:ext cx="4632960" cy="37757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Cleaned tables</a:t>
            </a:r>
          </a:p>
          <a:p>
            <a:r>
              <a:t>• Added keys &amp; indexes</a:t>
            </a:r>
          </a:p>
          <a:p>
            <a:r>
              <a:t>• Answered 10 business questions</a:t>
            </a:r>
          </a:p>
          <a:p>
            <a:r>
              <a:t>• Revenue, profit, returns, store analysis</a:t>
            </a:r>
          </a:p>
        </p:txBody>
      </p:sp>
      <p:sp>
        <p:nvSpPr>
          <p:cNvPr id="4" name="AutoShape 2" descr="Image result for sql server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505" y="3266805"/>
            <a:ext cx="2889504" cy="34831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1"/>
            <a:ext cx="2366286" cy="3530599"/>
          </a:xfrm>
        </p:spPr>
        <p:txBody>
          <a:bodyPr/>
          <a:lstStyle/>
          <a:p>
            <a:r>
              <a:rPr dirty="0"/>
              <a:t>• Sales as fact table</a:t>
            </a:r>
          </a:p>
          <a:p>
            <a:r>
              <a:rPr dirty="0"/>
              <a:t>• Other tables as dimensions</a:t>
            </a:r>
          </a:p>
          <a:p>
            <a:r>
              <a:rPr dirty="0"/>
              <a:t>• Star schema design</a:t>
            </a:r>
          </a:p>
          <a:p>
            <a:r>
              <a:rPr dirty="0"/>
              <a:t>• Proper </a:t>
            </a:r>
            <a:r>
              <a:rPr dirty="0" smtClean="0"/>
              <a:t>relationships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400" y="2489201"/>
            <a:ext cx="5735782" cy="37051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Overview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329" y="2489201"/>
            <a:ext cx="3266647" cy="339350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Sales Performance Insights</a:t>
            </a:r>
          </a:p>
          <a:p>
            <a:r>
              <a:rPr lang="en-US" dirty="0"/>
              <a:t>Sales show clear seasonal trends with certain months performing significantly better.</a:t>
            </a:r>
          </a:p>
          <a:p>
            <a:r>
              <a:rPr lang="en-US" dirty="0"/>
              <a:t>A small set of products contributes a large share of total sales.</a:t>
            </a:r>
          </a:p>
          <a:p>
            <a:r>
              <a:rPr lang="en-US" dirty="0"/>
              <a:t>Online and in-store channels show different performance patterns.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1584" y="2489201"/>
            <a:ext cx="4547616" cy="33935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Insights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1"/>
            <a:ext cx="2815543" cy="353059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customer </a:t>
            </a:r>
            <a:r>
              <a:rPr lang="en-US" b="1" dirty="0"/>
              <a:t>Insights</a:t>
            </a:r>
          </a:p>
          <a:p>
            <a:r>
              <a:rPr lang="en-US" dirty="0"/>
              <a:t>Customers from specific regions contribute more to revenue.</a:t>
            </a:r>
          </a:p>
          <a:p>
            <a:r>
              <a:rPr lang="en-US" dirty="0"/>
              <a:t>Certain age groups generate higher average revenue than others.</a:t>
            </a:r>
          </a:p>
          <a:p>
            <a:r>
              <a:rPr lang="en-US" dirty="0"/>
              <a:t>A small number of customers contribute disproportionately to total profit.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40" y="2422522"/>
            <a:ext cx="5352288" cy="36639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Performance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1" y="2687321"/>
            <a:ext cx="3048000" cy="353059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Product Performance Insights</a:t>
            </a:r>
          </a:p>
          <a:p>
            <a:r>
              <a:rPr lang="en-US" dirty="0"/>
              <a:t>Some product categories are consistently more profitable than others.</a:t>
            </a:r>
          </a:p>
          <a:p>
            <a:r>
              <a:rPr lang="en-US" dirty="0"/>
              <a:t>A few products have high sales volume but lower profitability due to returns or discounts.</a:t>
            </a:r>
          </a:p>
          <a:p>
            <a:r>
              <a:rPr lang="en-US" dirty="0"/>
              <a:t>Return rates are concentrated in specific product categories.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5536" y="2290876"/>
            <a:ext cx="5693664" cy="392704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Store </a:t>
            </a:r>
            <a:r>
              <a:rPr dirty="0"/>
              <a:t>Analysis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1"/>
            <a:ext cx="2669239" cy="353059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Store Performance Insights</a:t>
            </a:r>
          </a:p>
          <a:p>
            <a:r>
              <a:rPr lang="en-US" dirty="0"/>
              <a:t>Not all stores are equally profitable despite similar sales levels.</a:t>
            </a:r>
          </a:p>
          <a:p>
            <a:r>
              <a:rPr lang="en-US" dirty="0"/>
              <a:t>High operating costs reduce profitability for some stores.</a:t>
            </a:r>
          </a:p>
          <a:p>
            <a:r>
              <a:rPr lang="en-US" dirty="0"/>
              <a:t>Store performance varies significantly across regions.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024" y="2255520"/>
            <a:ext cx="5522976" cy="36095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Return Analysis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1"/>
            <a:ext cx="2440177" cy="353059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Return Analysis Insights</a:t>
            </a:r>
          </a:p>
          <a:p>
            <a:r>
              <a:rPr lang="en-US" dirty="0"/>
              <a:t>Return rates have increased over time in specific categories.</a:t>
            </a:r>
          </a:p>
          <a:p>
            <a:r>
              <a:rPr lang="en-US" dirty="0"/>
              <a:t>Certain products and regions account for most returns.</a:t>
            </a:r>
          </a:p>
          <a:p>
            <a:r>
              <a:rPr lang="en-US" dirty="0"/>
              <a:t>High return rates negatively impact overall profitability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4245" y="2489201"/>
            <a:ext cx="4987937" cy="371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14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70728"/>
            <a:ext cx="5562068" cy="3530599"/>
          </a:xfrm>
        </p:spPr>
        <p:txBody>
          <a:bodyPr/>
          <a:lstStyle/>
          <a:p>
            <a:r>
              <a:t>• Few customers/products generate most profit</a:t>
            </a:r>
          </a:p>
          <a:p>
            <a:r>
              <a:t>• Operating cost impacts stores</a:t>
            </a:r>
          </a:p>
          <a:p>
            <a:r>
              <a:t>• Some categories have high returns</a:t>
            </a:r>
          </a:p>
        </p:txBody>
      </p:sp>
      <p:pic>
        <p:nvPicPr>
          <p:cNvPr id="5122" name="Picture 2" descr="https://blog.happyfox.com/wp-content/uploads/2020/09/Data-Driven-Decision-Mak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636" y="3879273"/>
            <a:ext cx="7269201" cy="299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1"/>
            <a:ext cx="3059383" cy="3399535"/>
          </a:xfrm>
        </p:spPr>
        <p:txBody>
          <a:bodyPr/>
          <a:lstStyle/>
          <a:p>
            <a:r>
              <a:t>• Built end-to-end analytics solution</a:t>
            </a:r>
          </a:p>
          <a:p>
            <a:r>
              <a:t>• Integrated Python, SQL, Power BI</a:t>
            </a:r>
          </a:p>
          <a:p>
            <a:r>
              <a:t>• Delivered business-ready dashboards</a:t>
            </a:r>
          </a:p>
        </p:txBody>
      </p:sp>
      <p:sp>
        <p:nvSpPr>
          <p:cNvPr id="4" name="AutoShape 2" descr="Image result for conclusion image for pp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9480" y="2875913"/>
            <a:ext cx="3744520" cy="3982087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464</TotalTime>
  <Words>431</Words>
  <Application>Microsoft Office PowerPoint</Application>
  <PresentationFormat>On-screen Show (4:3)</PresentationFormat>
  <Paragraphs>77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 Boardroom</vt:lpstr>
      <vt:lpstr>End-to-End Retail Performance and Behavioral Analytics</vt:lpstr>
      <vt:lpstr>Project Overview</vt:lpstr>
      <vt:lpstr>Business Problem</vt:lpstr>
      <vt:lpstr>Project Objectives</vt:lpstr>
      <vt:lpstr>Data Used</vt:lpstr>
      <vt:lpstr>Python Work</vt:lpstr>
      <vt:lpstr>SQL Work</vt:lpstr>
      <vt:lpstr>Data Modeling</vt:lpstr>
      <vt:lpstr>Sales Overview Dashboard</vt:lpstr>
      <vt:lpstr>Customer Insights Dashboard</vt:lpstr>
      <vt:lpstr>Product Performance Dashboard</vt:lpstr>
      <vt:lpstr>Store Analysis Dashboard</vt:lpstr>
      <vt:lpstr>Return Analysis Dashboard</vt:lpstr>
      <vt:lpstr>Key Business Insights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Analytics Using SQL, Python, and Power BI</dc:title>
  <dc:subject/>
  <dc:creator/>
  <cp:keywords/>
  <dc:description>generated using python-pptx</dc:description>
  <cp:lastModifiedBy>Microsoft account</cp:lastModifiedBy>
  <cp:revision>11</cp:revision>
  <dcterms:created xsi:type="dcterms:W3CDTF">2013-01-27T09:14:16Z</dcterms:created>
  <dcterms:modified xsi:type="dcterms:W3CDTF">2026-01-12T10:01:44Z</dcterms:modified>
  <cp:category/>
</cp:coreProperties>
</file>